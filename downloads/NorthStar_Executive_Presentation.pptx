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no real client, production configuration or implementation is represented.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Consequences are hypotheses from the supplied fictional scenario, not real observed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Manufacturing planning, procurement redesign, international trade, complex tax, full migration and deployment are 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alternative causes for late billing; email handoff is a hypothesis, not a proven root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requirements and stories are proposed. Trace links exist but actual business validation is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is Public Edition 2602; Learning pages are not release-pinned. Entitlements and configuration are not established.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Single-line orders, net-only finance, seeded data. On-time denominator includes overdue open orders. Cycle time excludes unfinished orders; billing mean excludes unbilled deliveries.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turn data check success into a passed SAP UAT case or personal experience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manual ownership/reconciliation first, then validate process standardisation. No SAP price quote or achieved benefit is represented.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 learning gate remains open until the learner can explain decisions without reading a script. No employment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E8B"/>
                </a:solidFill>
              </a:defRPr>
            </a:pPr>
            <a:r>
              <a:t>NORTHSTAR  /  INDEPENDENT SIMULATED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B42"/>
                </a:solidFill>
              </a:defRPr>
            </a:pPr>
            <a:r>
              <a:t>NorthStar Manufacturing UK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476"/>
                </a:solidFill>
              </a:defRPr>
            </a:pPr>
            <a:r>
              <a:t>SAP S/4HANA Order-to-Cash</a:t>
            </a:r>
          </a:p>
          <a:p>
            <a:pPr>
              <a:spcAft>
                <a:spcPts val="1200"/>
              </a:spcAft>
              <a:defRPr sz="2000" b="0">
                <a:solidFill>
                  <a:srgbClr val="526476"/>
                </a:solidFill>
              </a:defRPr>
            </a:pPr>
            <a:r>
              <a:t>Business Process Analysis &amp;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Independent simulated portfolio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Public Edition 2602 research reference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Free documentation and synthetic-data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6"/>
                </a:solidFill>
              </a:defRPr>
            </a:pPr>
            <a:r>
              <a:t>11 October 2026 · No production implementation or achieved savings claimed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087E8B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E8B"/>
                </a:solidFill>
              </a:defRPr>
            </a:pPr>
            <a:r>
              <a:t>NORTHSTAR  /  INDEPENDENT SIMULATED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B42"/>
                </a:solidFill>
              </a:defRPr>
            </a:pPr>
            <a: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476"/>
                </a:solidFill>
              </a:defRPr>
            </a:pPr>
            <a:r>
              <a:t>Three connected operational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Poor visibility → repeated enquiries and unclear ownership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Stock delays → unsupported promises and partial-delivery decisions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Manual billing handoffs → eligible deliveries waiting for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6"/>
                </a:solidFill>
              </a:defRPr>
            </a:pPr>
            <a:r>
              <a:t>11 October 2026 · No production implementation or achieved savings claimed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087E8B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E8B"/>
                </a:solidFill>
              </a:defRPr>
            </a:pPr>
            <a:r>
              <a:t>NORTHSTAR  /  INDEPENDENT SIMULATED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B42"/>
                </a:solidFill>
              </a:defRPr>
            </a:pPr>
            <a:r>
              <a:t>Scope and representative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476"/>
                </a:solidFill>
              </a:defRPr>
            </a:pPr>
            <a:r>
              <a:t>One company · one warehouse · domestic B2B · GBP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NS-ORD-1001: 100 brackets × £25 = £2,500 net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60 physically on hand; availability remains unresolved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Requested receipt 9 October; no confirmed promise invented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Order receipt through payment allocation and 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6"/>
                </a:solidFill>
              </a:defRPr>
            </a:pPr>
            <a:r>
              <a:t>11 October 2026 · No production implementation or achieved savings claimed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087E8B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E8B"/>
                </a:solidFill>
              </a:defRPr>
            </a:pPr>
            <a:r>
              <a:t>NORTHSTAR  /  INDEPENDENT SIMULATED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B42"/>
                </a:solidFill>
              </a:defRPr>
            </a:pPr>
            <a:r>
              <a:t>Discovery and process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476"/>
                </a:solidFill>
              </a:defRPr>
            </a:pPr>
            <a:r>
              <a:t>Role-play reveals decisions, not stakeholder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Validate data before confirmation; retain the original promise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Require agreement for partial delivery; keep remainder open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Finance owns credit release and billable-population review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Separate physical dispatch, goods-issue posting and receipt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6"/>
                </a:solidFill>
              </a:defRPr>
            </a:pPr>
            <a:r>
              <a:t>11 October 2026 · No production implementation or achieved savings claimed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087E8B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E8B"/>
                </a:solidFill>
              </a:defRPr>
            </a:pPr>
            <a:r>
              <a:t>NORTHSTAR  /  INDEPENDENT SIMULATED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B42"/>
                </a:solidFill>
              </a:defRPr>
            </a:pPr>
            <a:r>
              <a:t>Requirements to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476"/>
                </a:solidFill>
              </a:defRPr>
            </a:pPr>
            <a:r>
              <a:t>One traceable evidence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23 requirements: 3 business + 15 functional + 5 non-functional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15 stories and 12 rules with explicit exceptions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Example: PROB-002 → BR-002 → FR-004 → PC-004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US-004 → TC-005/006 → KPI-003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6"/>
                </a:solidFill>
              </a:defRPr>
            </a:pPr>
            <a:r>
              <a:t>11 October 2026 · No production implementation or achieved savings claimed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087E8B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E8B"/>
                </a:solidFill>
              </a:defRPr>
            </a:pPr>
            <a:r>
              <a:t>NORTHSTAR  /  INDEPENDENT SIMULATED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B42"/>
                </a:solidFill>
              </a:defRPr>
            </a:pPr>
            <a:r>
              <a:t>SAP standard-first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476"/>
                </a:solidFill>
              </a:defRPr>
            </a:pPr>
            <a:r>
              <a:t>Documented capability is not demonstrated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Seven official sources reviewed; two pages explicitly unverified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BD9 stock-sales reference and payment handling researched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15 functional fit assessments remain desk-based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Validate exact roles, corrections, receipt capture and audit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6"/>
                </a:solidFill>
              </a:defRPr>
            </a:pPr>
            <a:r>
              <a:t>11 October 2026 · No production implementation or achieved savings claimed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087E8B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E8B"/>
                </a:solidFill>
              </a:defRPr>
            </a:pPr>
            <a:r>
              <a:t>NORTHSTAR  /  INDEPENDENT SIMULATED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B42"/>
                </a:solidFill>
              </a:defRPr>
            </a:pPr>
            <a:r>
              <a:t>Synthetic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476"/>
                </a:solidFill>
              </a:defRPr>
            </a:pPr>
            <a:r>
              <a:t>Reproducible analysis, not achieved performance</a:t>
            </a:r>
          </a:p>
        </p:txBody>
      </p:sp>
      <p:pic>
        <p:nvPicPr>
          <p:cNvPr id="5" name="Picture 4" descr="kpi-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560320"/>
            <a:ext cx="10972800" cy="3931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00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6"/>
                </a:solidFill>
              </a:defRPr>
            </a:pPr>
            <a:r>
              <a:t>11 October 2026 · No production implementation or achieved savings claimed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087E8B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E8B"/>
                </a:solidFill>
              </a:defRPr>
            </a:pPr>
            <a:r>
              <a:t>NORTHSTAR  /  INDEPENDENT SIMULATED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B42"/>
                </a:solidFill>
              </a:defRPr>
            </a:pPr>
            <a:r>
              <a:t>Validation and remaining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476"/>
                </a:solidFill>
              </a:defRPr>
            </a:pPr>
            <a:r>
              <a:t>Honest execution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24 synthetic data checks passed; six Python/SQL KPIs agree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22 SAP UAT cases designed; 0 executed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Desk walkthrough issues kept separate from SAP defects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Learner explanation, real discovery and tenant testing remain pending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6"/>
                </a:solidFill>
              </a:defRPr>
            </a:pPr>
            <a:r>
              <a:t>11 October 2026 · No production implementation or achieved savings claimed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087E8B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E8B"/>
                </a:solidFill>
              </a:defRPr>
            </a:pPr>
            <a:r>
              <a:t>NORTHSTAR  /  INDEPENDENT SIMULATED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B42"/>
                </a:solidFill>
              </a:defRPr>
            </a:pPr>
            <a:r>
              <a:t>Options and illustrative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476"/>
                </a:solidFill>
              </a:defRPr>
            </a:pPr>
            <a:r>
              <a:t>Improve controls before assuming a large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Compare manual controls, process standardisation and SAP-aligned design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6,000 orders × 5 minutes = 500 hours annual capacity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At £25/hour: £12,500 capacity equivalent, not cash savings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No cash ROI/payback claimed; costs are planning placeholders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6"/>
                </a:solidFill>
              </a:defRPr>
            </a:pPr>
            <a:r>
              <a:t>11 October 2026 · No production implementation or achieved savings claimed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087E8B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87E8B"/>
                </a:solidFill>
              </a:defRPr>
            </a:pPr>
            <a:r>
              <a:t>NORTHSTAR  /  INDEPENDENT SIMULATED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200" b="1">
                <a:solidFill>
                  <a:srgbClr val="112B42"/>
                </a:solidFill>
              </a:defRPr>
            </a:pPr>
            <a:r>
              <a:t>What this portfolio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526476"/>
                </a:solidFill>
              </a:defRPr>
            </a:pPr>
            <a:r>
              <a:t>A reviewable foundation, with explicit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Problem → evidence → requirements → design → validation reasoning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Reproducible synthetic analysis and source-labelled SAP research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Next: learner review, policy validation and system demonstration</a:t>
            </a:r>
          </a:p>
          <a:p>
            <a:pPr>
              <a:spcAft>
                <a:spcPts val="1200"/>
              </a:spcAft>
              <a:defRPr sz="2200" b="0">
                <a:solidFill>
                  <a:srgbClr val="213547"/>
                </a:solidFill>
              </a:defRPr>
            </a:pPr>
            <a:r>
              <a:t>• AI drafted/generated artifacts; personal contribution must be stated accurately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0">
                <a:solidFill>
                  <a:srgbClr val="526476"/>
                </a:solidFill>
              </a:defRPr>
            </a:pPr>
            <a:r>
              <a:t>11 October 2026 · No production implementation or achieved savings claimed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0">
                <a:solidFill>
                  <a:srgbClr val="087E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